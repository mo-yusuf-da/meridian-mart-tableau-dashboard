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7315200" cy="960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DD6EF16C-59D4-6223-80FC-EDFE1A8120F1}">
          <p14:sldIdLst>
            <p14:sldId id="256"/>
            <p14:sldId id="257"/>
          </p14:sldIdLst>
        </p14:section>
        <p14:section name="Root cause" id="{4CF37F8D-06C8-A134-A4CC-93A5823A2890}">
          <p14:sldIdLst>
            <p14:sldId id="258"/>
            <p14:sldId id="259"/>
          </p14:sldIdLst>
        </p14:section>
        <p14:section name="Where and when" id="{B5256907-C682-CCDA-CC5A-855B68276735}">
          <p14:sldIdLst>
            <p14:sldId id="260"/>
            <p14:sldId id="261"/>
          </p14:sldIdLst>
        </p14:section>
        <p14:section name="Customers and fulfilment" id="{DF762035-CD75-7667-A66E-6E4C1060C21E}">
          <p14:sldIdLst>
            <p14:sldId id="262"/>
            <p14:sldId id="263"/>
          </p14:sldIdLst>
        </p14:section>
        <p14:section name="Actions" id="{3C7F7B52-F69A-0CA6-F248-668FD1457FAB}">
          <p14:sldIdLst>
            <p14:sldId id="264"/>
            <p14:sldId id="265"/>
          </p14:sldIdLst>
        </p14:section>
        <p14:section name="Appendix" id="{D34008B2-8A7F-9AFD-6352-59AB738A9ADF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2B2B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2B2B2B"/>
                </a:solidFill>
                <a:latin typeface="+mn-lt"/>
              </a:rPr>
              <a:t>Profit margin by discount level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margin</c:v>
                </c:pt>
              </c:strCache>
            </c:strRef>
          </c:tx>
          <c:spPr>
            <a:solidFill>
              <a:srgbClr val="0F6E7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F6E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803-4008-9311-D1BB0EAA5924}"/>
              </c:ext>
            </c:extLst>
          </c:dPt>
          <c:dPt>
            <c:idx val="1"/>
            <c:invertIfNegative val="0"/>
            <c:bubble3D val="0"/>
            <c:spPr>
              <a:solidFill>
                <a:srgbClr val="0F6E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803-4008-9311-D1BB0EAA5924}"/>
              </c:ext>
            </c:extLst>
          </c:dPt>
          <c:dPt>
            <c:idx val="2"/>
            <c:invertIfNegative val="0"/>
            <c:bubble3D val="0"/>
            <c:spPr>
              <a:solidFill>
                <a:srgbClr val="0F6E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803-4008-9311-D1BB0EAA5924}"/>
              </c:ext>
            </c:extLst>
          </c:dPt>
          <c:dPt>
            <c:idx val="3"/>
            <c:invertIfNegative val="0"/>
            <c:bubble3D val="0"/>
            <c:spPr>
              <a:solidFill>
                <a:srgbClr val="0F6E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803-4008-9311-D1BB0EAA5924}"/>
              </c:ext>
            </c:extLst>
          </c:dPt>
          <c:dPt>
            <c:idx val="4"/>
            <c:invertIfNegative val="0"/>
            <c:bubble3D val="0"/>
            <c:spPr>
              <a:solidFill>
                <a:srgbClr val="C241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803-4008-9311-D1BB0EAA5924}"/>
              </c:ext>
            </c:extLst>
          </c:dPt>
          <c:dPt>
            <c:idx val="5"/>
            <c:invertIfNegative val="0"/>
            <c:bubble3D val="0"/>
            <c:spPr>
              <a:solidFill>
                <a:srgbClr val="C241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803-4008-9311-D1BB0EAA5924}"/>
              </c:ext>
            </c:extLst>
          </c:dPt>
          <c:dPt>
            <c:idx val="6"/>
            <c:invertIfNegative val="0"/>
            <c:bubble3D val="0"/>
            <c:spPr>
              <a:solidFill>
                <a:srgbClr val="C241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D803-4008-9311-D1BB0EAA5924}"/>
              </c:ext>
            </c:extLst>
          </c:dPt>
          <c:dPt>
            <c:idx val="7"/>
            <c:invertIfNegative val="0"/>
            <c:bubble3D val="0"/>
            <c:spPr>
              <a:solidFill>
                <a:srgbClr val="C241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D803-4008-9311-D1BB0EAA5924}"/>
              </c:ext>
            </c:extLst>
          </c:dPt>
          <c:dPt>
            <c:idx val="8"/>
            <c:invertIfNegative val="0"/>
            <c:bubble3D val="0"/>
            <c:spPr>
              <a:solidFill>
                <a:srgbClr val="C241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D803-4008-9311-D1BB0EAA5924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B2B2B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0%</c:v>
                </c:pt>
                <c:pt idx="1">
                  <c:v>10%</c:v>
                </c:pt>
                <c:pt idx="2">
                  <c:v>20%</c:v>
                </c:pt>
                <c:pt idx="3">
                  <c:v>30%</c:v>
                </c:pt>
                <c:pt idx="4">
                  <c:v>40%</c:v>
                </c:pt>
                <c:pt idx="5">
                  <c:v>50%</c:v>
                </c:pt>
                <c:pt idx="6">
                  <c:v>60%</c:v>
                </c:pt>
                <c:pt idx="7">
                  <c:v>70%</c:v>
                </c:pt>
                <c:pt idx="8">
                  <c:v>80%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29.5</c:v>
                </c:pt>
                <c:pt idx="1">
                  <c:v>21.3</c:v>
                </c:pt>
                <c:pt idx="2">
                  <c:v>11.1</c:v>
                </c:pt>
                <c:pt idx="3">
                  <c:v>0.8</c:v>
                </c:pt>
                <c:pt idx="4">
                  <c:v>-17.8</c:v>
                </c:pt>
                <c:pt idx="5">
                  <c:v>-43.4</c:v>
                </c:pt>
                <c:pt idx="6">
                  <c:v>-81</c:v>
                </c:pt>
                <c:pt idx="7">
                  <c:v>-143.6</c:v>
                </c:pt>
                <c:pt idx="8">
                  <c:v>-268.5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D803-4008-9311-D1BB0EAA592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B75"/>
                    </a:solidFill>
                    <a:latin typeface="Arial"/>
                  </a:defRPr>
                </a:pPr>
                <a:r>
                  <a:rPr lang="en-CA" sz="1200" b="0" i="0" u="none" strike="noStrike">
                    <a:solidFill>
                      <a:srgbClr val="5B6B75"/>
                    </a:solidFill>
                    <a:latin typeface="Arial"/>
                  </a:rPr>
                  <a:t>Discount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noFill/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 algn="ctr" rtl="0">
                  <a:defRPr lang="en-CA" sz="1200" b="0" i="0" u="none" strike="noStrike" kern="1200" baseline="0" dirty="0" smtClean="0">
                    <a:solidFill>
                      <a:srgbClr val="5B6B75"/>
                    </a:solidFill>
                    <a:latin typeface="Arial"/>
                    <a:ea typeface="+mn-ea"/>
                    <a:cs typeface="+mn-cs"/>
                  </a:defRPr>
                </a:pPr>
                <a:r>
                  <a:rPr lang="en-CA" sz="1200" b="0" i="0" u="none" strike="noStrike" kern="1200" baseline="0" dirty="0">
                    <a:solidFill>
                      <a:srgbClr val="5B6B75"/>
                    </a:solidFill>
                    <a:latin typeface="Arial"/>
                    <a:ea typeface="+mn-ea"/>
                    <a:cs typeface="+mn-cs"/>
                  </a:rPr>
                  <a:t>Profit Margin</a:t>
                </a:r>
              </a:p>
            </c:rich>
          </c:tx>
          <c:overlay val="0"/>
        </c:title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2B2B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2B2B2B"/>
                </a:solidFill>
                <a:latin typeface="+mn-lt"/>
              </a:rPr>
              <a:t>Profit by sub-category (top 7 and loss-makers)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0F6E7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F6E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291-4DE3-ABAF-38991FF26F50}"/>
              </c:ext>
            </c:extLst>
          </c:dPt>
          <c:dPt>
            <c:idx val="1"/>
            <c:invertIfNegative val="0"/>
            <c:bubble3D val="0"/>
            <c:spPr>
              <a:solidFill>
                <a:srgbClr val="0F6E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291-4DE3-ABAF-38991FF26F50}"/>
              </c:ext>
            </c:extLst>
          </c:dPt>
          <c:dPt>
            <c:idx val="2"/>
            <c:invertIfNegative val="0"/>
            <c:bubble3D val="0"/>
            <c:spPr>
              <a:solidFill>
                <a:srgbClr val="0F6E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291-4DE3-ABAF-38991FF26F50}"/>
              </c:ext>
            </c:extLst>
          </c:dPt>
          <c:dPt>
            <c:idx val="3"/>
            <c:invertIfNegative val="0"/>
            <c:bubble3D val="0"/>
            <c:spPr>
              <a:solidFill>
                <a:srgbClr val="0F6E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291-4DE3-ABAF-38991FF26F50}"/>
              </c:ext>
            </c:extLst>
          </c:dPt>
          <c:dPt>
            <c:idx val="4"/>
            <c:invertIfNegative val="0"/>
            <c:bubble3D val="0"/>
            <c:spPr>
              <a:solidFill>
                <a:srgbClr val="0F6E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291-4DE3-ABAF-38991FF26F50}"/>
              </c:ext>
            </c:extLst>
          </c:dPt>
          <c:dPt>
            <c:idx val="5"/>
            <c:invertIfNegative val="0"/>
            <c:bubble3D val="0"/>
            <c:spPr>
              <a:solidFill>
                <a:srgbClr val="0F6E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291-4DE3-ABAF-38991FF26F50}"/>
              </c:ext>
            </c:extLst>
          </c:dPt>
          <c:dPt>
            <c:idx val="6"/>
            <c:invertIfNegative val="0"/>
            <c:bubble3D val="0"/>
            <c:spPr>
              <a:solidFill>
                <a:srgbClr val="0F6E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5291-4DE3-ABAF-38991FF26F50}"/>
              </c:ext>
            </c:extLst>
          </c:dPt>
          <c:dPt>
            <c:idx val="7"/>
            <c:invertIfNegative val="0"/>
            <c:bubble3D val="0"/>
            <c:spPr>
              <a:solidFill>
                <a:srgbClr val="C241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5291-4DE3-ABAF-38991FF26F50}"/>
              </c:ext>
            </c:extLst>
          </c:dPt>
          <c:dPt>
            <c:idx val="8"/>
            <c:invertIfNegative val="0"/>
            <c:bubble3D val="0"/>
            <c:spPr>
              <a:solidFill>
                <a:srgbClr val="C241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5291-4DE3-ABAF-38991FF26F50}"/>
              </c:ext>
            </c:extLst>
          </c:dPt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B2B2B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Copiers</c:v>
                </c:pt>
                <c:pt idx="1">
                  <c:v>Chairs</c:v>
                </c:pt>
                <c:pt idx="2">
                  <c:v>Phones</c:v>
                </c:pt>
                <c:pt idx="3">
                  <c:v>Appliances</c:v>
                </c:pt>
                <c:pt idx="4">
                  <c:v>Accessories</c:v>
                </c:pt>
                <c:pt idx="5">
                  <c:v>Furnishings</c:v>
                </c:pt>
                <c:pt idx="6">
                  <c:v>Bookcases</c:v>
                </c:pt>
                <c:pt idx="7">
                  <c:v>Machines</c:v>
                </c:pt>
                <c:pt idx="8">
                  <c:v>Tables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410318</c:v>
                </c:pt>
                <c:pt idx="1">
                  <c:v>42543</c:v>
                </c:pt>
                <c:pt idx="2">
                  <c:v>35917</c:v>
                </c:pt>
                <c:pt idx="3">
                  <c:v>23919</c:v>
                </c:pt>
                <c:pt idx="4">
                  <c:v>17545</c:v>
                </c:pt>
                <c:pt idx="5">
                  <c:v>16873</c:v>
                </c:pt>
                <c:pt idx="6">
                  <c:v>1845</c:v>
                </c:pt>
                <c:pt idx="7">
                  <c:v>-36495</c:v>
                </c:pt>
                <c:pt idx="8">
                  <c:v>-88743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5291-4DE3-ABAF-38991FF26F5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t"/>
        <c:majorGridlines>
          <c:spPr>
            <a:ln w="9525" cap="flat">
              <a:noFill/>
              <a:prstDash val="solid"/>
              <a:round/>
            </a:ln>
          </c:spPr>
        </c:majorGridlines>
        <c:numFmt formatCode="\$#,##0" sourceLinked="0"/>
        <c:majorTickMark val="out"/>
        <c:minorTickMark val="none"/>
        <c:tickLblPos val="none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8C9399"/>
            </a:solidFill>
            <a:effectLst/>
          </c:spPr>
          <c:invertIfNegative val="0"/>
          <c:dLbls>
            <c:numFmt formatCode="\$#,##0,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B2B2B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East</c:v>
                </c:pt>
                <c:pt idx="1">
                  <c:v>West</c:v>
                </c:pt>
                <c:pt idx="2">
                  <c:v>Central</c:v>
                </c:pt>
                <c:pt idx="3">
                  <c:v>South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1272520</c:v>
                </c:pt>
                <c:pt idx="1">
                  <c:v>1262719</c:v>
                </c:pt>
                <c:pt idx="2">
                  <c:v>1001936</c:v>
                </c:pt>
                <c:pt idx="3">
                  <c:v>933526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04-42A9-8BFF-3608429BAEB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0F6E7A"/>
            </a:solidFill>
            <a:effectLst/>
          </c:spPr>
          <c:invertIfNegative val="0"/>
          <c:dLbls>
            <c:numFmt formatCode="\$#,##0,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B2B2B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East</c:v>
                </c:pt>
                <c:pt idx="1">
                  <c:v>West</c:v>
                </c:pt>
                <c:pt idx="2">
                  <c:v>Central</c:v>
                </c:pt>
                <c:pt idx="3">
                  <c:v>South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175032</c:v>
                </c:pt>
                <c:pt idx="1">
                  <c:v>112653</c:v>
                </c:pt>
                <c:pt idx="2">
                  <c:v>92760</c:v>
                </c:pt>
                <c:pt idx="3">
                  <c:v>99600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504-42A9-8BFF-3608429BAE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9525" cap="flat">
              <a:noFill/>
              <a:prstDash val="solid"/>
              <a:round/>
            </a:ln>
          </c:spPr>
        </c:majorGridlines>
        <c:numFmt formatCode="\$#,##0,&quot;K&quot;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5B6B7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8C9399"/>
            </a:solidFill>
            <a:effectLst/>
          </c:spPr>
          <c:invertIfNegative val="0"/>
          <c:dLbls>
            <c:numFmt formatCode="\$#,##0,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B2B2B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1133298</c:v>
                </c:pt>
                <c:pt idx="1">
                  <c:v>1112011</c:v>
                </c:pt>
                <c:pt idx="2">
                  <c:v>1216140</c:v>
                </c:pt>
                <c:pt idx="3">
                  <c:v>1009252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7C-4D03-9C65-4880A7A56E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0F6E7A"/>
            </a:solidFill>
            <a:effectLst/>
          </c:spPr>
          <c:invertIfNegative val="0"/>
          <c:dLbls>
            <c:numFmt formatCode="\$#,##0,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B2B2B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137683</c:v>
                </c:pt>
                <c:pt idx="1">
                  <c:v>71022</c:v>
                </c:pt>
                <c:pt idx="2">
                  <c:v>151503</c:v>
                </c:pt>
                <c:pt idx="3">
                  <c:v>119837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97C-4D03-9C65-4880A7A56E9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9525" cap="flat">
              <a:noFill/>
              <a:prstDash val="solid"/>
              <a:round/>
            </a:ln>
          </c:spPr>
        </c:majorGridlines>
        <c:numFmt formatCode="\$#,##0,&quot;K&quot;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5B6B7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2B2B"/>
                </a:solidFill>
                <a:latin typeface="+mn-lt"/>
              </a:defRPr>
            </a:pPr>
            <a:r>
              <a:rPr lang="en-CA" sz="1300" b="0" i="0" u="none" strike="noStrike">
                <a:solidFill>
                  <a:srgbClr val="2B2B2B"/>
                </a:solidFill>
                <a:latin typeface="+mn-lt"/>
              </a:rPr>
              <a:t>Profit margin by segment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Margin</c:v>
                </c:pt>
              </c:strCache>
            </c:strRef>
          </c:tx>
          <c:spPr>
            <a:solidFill>
              <a:srgbClr val="0F6E7A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B2B2B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Consumer</c:v>
                </c:pt>
                <c:pt idx="1">
                  <c:v>Corporate</c:v>
                </c:pt>
                <c:pt idx="2">
                  <c:v>Home Office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9.98</c:v>
                </c:pt>
                <c:pt idx="1">
                  <c:v>10.94</c:v>
                </c:pt>
                <c:pt idx="2">
                  <c:v>12.41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E6-40BB-8A23-330552928B4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majorGridlines>
          <c:spPr>
            <a:ln w="9525" cap="flat">
              <a:noFill/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2026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answer Rebecca Hayes's request to find the root cause of margin erosion and quantify its impact. Headline: deep discounts, not regions or customers, are the main driver.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number leadership cares about: profit is $480K, and nearly as much is being given away through deep discounts.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Margin falls steadily as discount rises: 29.5% at no discount, 11.1% at 20%, near zero at 30%, and deeply negative from 40%. The 999 lines above 30% produce $402.9K of losses.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Copiers earn $410K at 32% margin. Tables lose $88.7K and Machines $36.5K. Six products each lose more than $17K.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Regional managers' concern is justified for the West. Delivery time is not the cause: all regions average 4.40 to 4.49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2023 sales were flat but profit nearly halved, from $137.7K to $71.0K. 2024 recovered. 2025 sales fell 17% while margin held near 12%.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Segments differ by only 2.4 margin points, so segment is not the root cause. The 139 loss-making customers are a target for discount controls.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 Class carries almost 59% of orders. Same Day is small (5.5%) but earns the lowest margin, 8.8%.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Action 1 has the biggest impact and can start immediately through the pricing approval workflow. Actions 2 and 3 address the product mix. 4 and 5 are targeted fixes.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decision. The interactive dashboard lets regional managers track the effect of each action month by 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103120"/>
            <a:ext cx="108813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3657600"/>
            <a:ext cx="108813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Meridian Mart · Commercial &amp; Strategy · Sales data Jan 2022 to Dec 2025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10312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Meridian Mart Sales Analysis:</a:t>
            </a:r>
            <a:br>
              <a:rPr lang="en-US" sz="4000" b="1" dirty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>Discounting is eroding Meridian Mart's margin</a:t>
            </a:r>
            <a:endParaRPr lang="en-US" sz="2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4025153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Sales performance review, 2022 to 2025 · Executive Leadership Committee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Prepared by </a:t>
            </a:r>
            <a:r>
              <a:rPr lang="en-US" dirty="0"/>
              <a:t>Mo Yusuf (POD ASTRA)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$4.47M in sales returned only 10.7% profit over four years</a:t>
            </a:r>
            <a:endParaRPr lang="en-US" sz="2800" dirty="0"/>
          </a:p>
        </p:txBody>
      </p:sp>
      <p:sp>
        <p:nvSpPr>
          <p:cNvPr id="3" name="Sales card"/>
          <p:cNvSpPr/>
          <p:nvPr/>
        </p:nvSpPr>
        <p:spPr>
          <a:xfrm>
            <a:off x="548640" y="1371600"/>
            <a:ext cx="260604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Sales value"/>
          <p:cNvSpPr txBox="1"/>
          <p:nvPr/>
        </p:nvSpPr>
        <p:spPr>
          <a:xfrm>
            <a:off x="777240" y="15087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$4.47M</a:t>
            </a:r>
            <a:endParaRPr lang="en-US" sz="3600" dirty="0"/>
          </a:p>
        </p:txBody>
      </p:sp>
      <p:sp>
        <p:nvSpPr>
          <p:cNvPr id="5" name="Sales label"/>
          <p:cNvSpPr txBox="1"/>
          <p:nvPr/>
        </p:nvSpPr>
        <p:spPr>
          <a:xfrm>
            <a:off x="777240" y="22402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Total sales, 2,100 orders</a:t>
            </a:r>
            <a:endParaRPr lang="en-US" sz="1300" dirty="0"/>
          </a:p>
        </p:txBody>
      </p:sp>
      <p:sp>
        <p:nvSpPr>
          <p:cNvPr id="6" name="Profit card"/>
          <p:cNvSpPr/>
          <p:nvPr/>
        </p:nvSpPr>
        <p:spPr>
          <a:xfrm>
            <a:off x="3337560" y="1371600"/>
            <a:ext cx="260604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Profit value"/>
          <p:cNvSpPr txBox="1"/>
          <p:nvPr/>
        </p:nvSpPr>
        <p:spPr>
          <a:xfrm>
            <a:off x="3566160" y="15087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$480K</a:t>
            </a:r>
            <a:endParaRPr lang="en-US" sz="3600" dirty="0"/>
          </a:p>
        </p:txBody>
      </p:sp>
      <p:sp>
        <p:nvSpPr>
          <p:cNvPr id="8" name="Profit label"/>
          <p:cNvSpPr txBox="1"/>
          <p:nvPr/>
        </p:nvSpPr>
        <p:spPr>
          <a:xfrm>
            <a:off x="3566160" y="22402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Total profit</a:t>
            </a:r>
            <a:endParaRPr lang="en-US" sz="1300" dirty="0"/>
          </a:p>
        </p:txBody>
      </p:sp>
      <p:sp>
        <p:nvSpPr>
          <p:cNvPr id="9" name="Margin card"/>
          <p:cNvSpPr/>
          <p:nvPr/>
        </p:nvSpPr>
        <p:spPr>
          <a:xfrm>
            <a:off x="6126480" y="1371600"/>
            <a:ext cx="260604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Margin value"/>
          <p:cNvSpPr txBox="1"/>
          <p:nvPr/>
        </p:nvSpPr>
        <p:spPr>
          <a:xfrm>
            <a:off x="6355080" y="15087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10.7%</a:t>
            </a:r>
            <a:endParaRPr lang="en-US" sz="3600" dirty="0"/>
          </a:p>
        </p:txBody>
      </p:sp>
      <p:sp>
        <p:nvSpPr>
          <p:cNvPr id="11" name="Margin label"/>
          <p:cNvSpPr txBox="1"/>
          <p:nvPr/>
        </p:nvSpPr>
        <p:spPr>
          <a:xfrm>
            <a:off x="6355080" y="22402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Profit margin</a:t>
            </a:r>
            <a:endParaRPr lang="en-US" sz="1300" dirty="0"/>
          </a:p>
        </p:txBody>
      </p:sp>
      <p:sp>
        <p:nvSpPr>
          <p:cNvPr id="12" name="Loss card"/>
          <p:cNvSpPr/>
          <p:nvPr/>
        </p:nvSpPr>
        <p:spPr>
          <a:xfrm>
            <a:off x="8915400" y="1371600"/>
            <a:ext cx="269748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Loss value"/>
          <p:cNvSpPr txBox="1"/>
          <p:nvPr/>
        </p:nvSpPr>
        <p:spPr>
          <a:xfrm>
            <a:off x="9144000" y="15087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−$403K</a:t>
            </a:r>
            <a:endParaRPr lang="en-US" sz="3600" dirty="0"/>
          </a:p>
        </p:txBody>
      </p:sp>
      <p:sp>
        <p:nvSpPr>
          <p:cNvPr id="14" name="Loss label"/>
          <p:cNvSpPr txBox="1"/>
          <p:nvPr/>
        </p:nvSpPr>
        <p:spPr>
          <a:xfrm>
            <a:off x="9144000" y="22402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Lost on lines discounted above 30%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0632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findings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566160"/>
            <a:ext cx="10972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Discounts above 30% lose $402.9K, equal to 84% of total profit. Margin breaks even at about a 30% discount.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Profit depends on one product line: Copiers earn $410.3K (85% of profit). Tables and Machines lose $125.2K together.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West sells as much as East ($1.26M vs $1.27M) but earns $62.4K less profit. Denver is the only loss-making city.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Every discount above 30% loses money</a:t>
            </a:r>
            <a:endParaRPr lang="en-US" sz="2800" dirty="0"/>
          </a:p>
        </p:txBody>
      </p:sp>
      <p:graphicFrame>
        <p:nvGraphicFramePr>
          <p:cNvPr id="3" name="Discount chart"/>
          <p:cNvGraphicFramePr/>
          <p:nvPr>
            <p:extLst>
              <p:ext uri="{D42A27DB-BD31-4B8C-83A1-F6EECF244321}">
                <p14:modId xmlns:p14="http://schemas.microsoft.com/office/powerpoint/2010/main" val="1529487986"/>
              </p:ext>
            </p:extLst>
          </p:nvPr>
        </p:nvGraphicFramePr>
        <p:xfrm>
          <a:off x="548640" y="1325880"/>
          <a:ext cx="722376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Breakeven card"/>
          <p:cNvSpPr/>
          <p:nvPr/>
        </p:nvSpPr>
        <p:spPr>
          <a:xfrm>
            <a:off x="8138160" y="1371600"/>
            <a:ext cx="347472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Breakeven value"/>
          <p:cNvSpPr txBox="1"/>
          <p:nvPr/>
        </p:nvSpPr>
        <p:spPr>
          <a:xfrm>
            <a:off x="8366760" y="15087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~30%</a:t>
            </a:r>
            <a:endParaRPr lang="en-US" sz="3600" dirty="0"/>
          </a:p>
        </p:txBody>
      </p:sp>
      <p:sp>
        <p:nvSpPr>
          <p:cNvPr id="6" name="Breakeven label"/>
          <p:cNvSpPr txBox="1"/>
          <p:nvPr/>
        </p:nvSpPr>
        <p:spPr>
          <a:xfrm>
            <a:off x="8366760" y="2240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Break-even discount (30% = +0.8%, 40% = −17.8%)</a:t>
            </a:r>
            <a:endParaRPr lang="en-US" sz="1300" dirty="0"/>
          </a:p>
        </p:txBody>
      </p:sp>
      <p:sp>
        <p:nvSpPr>
          <p:cNvPr id="7" name="Lines card"/>
          <p:cNvSpPr/>
          <p:nvPr/>
        </p:nvSpPr>
        <p:spPr>
          <a:xfrm>
            <a:off x="8138160" y="2926080"/>
            <a:ext cx="347472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Lines value"/>
          <p:cNvSpPr txBox="1"/>
          <p:nvPr/>
        </p:nvSpPr>
        <p:spPr>
          <a:xfrm>
            <a:off x="8366760" y="30632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999 lines</a:t>
            </a:r>
            <a:endParaRPr lang="en-US" sz="3600" dirty="0"/>
          </a:p>
        </p:txBody>
      </p:sp>
      <p:sp>
        <p:nvSpPr>
          <p:cNvPr id="9" name="Lines label"/>
          <p:cNvSpPr txBox="1"/>
          <p:nvPr/>
        </p:nvSpPr>
        <p:spPr>
          <a:xfrm>
            <a:off x="8366760" y="3794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22.6% of order lines are discounted above 30%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452628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Average discount is about 20% in every region, category and segment. The problem is not the average; it is the deep discounts on individual lines.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Copiers carry profit; Tables and Machines lose $125K</a:t>
            </a:r>
            <a:endParaRPr lang="en-US" sz="2800" dirty="0"/>
          </a:p>
        </p:txBody>
      </p:sp>
      <p:graphicFrame>
        <p:nvGraphicFramePr>
          <p:cNvPr id="3" name="Sub-category chart"/>
          <p:cNvGraphicFramePr/>
          <p:nvPr>
            <p:extLst>
              <p:ext uri="{D42A27DB-BD31-4B8C-83A1-F6EECF244321}">
                <p14:modId xmlns:p14="http://schemas.microsoft.com/office/powerpoint/2010/main" val="3556455710"/>
              </p:ext>
            </p:extLst>
          </p:nvPr>
        </p:nvGraphicFramePr>
        <p:xfrm>
          <a:off x="548640" y="1325880"/>
          <a:ext cx="676656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680960" y="1371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Biggest loss-making products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828800"/>
          <a:ext cx="3931920" cy="2304288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 Rectangular 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C24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−$32,104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Chromcraft Round 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C24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−$19,339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Bevis Conference 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C24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−$19,127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Brother Fax Machine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C24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−$18,854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Bretford Folding 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C24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−$18,173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Lexmark Laser Printer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C24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−$17,733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680959" y="4343400"/>
            <a:ext cx="419681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Furniture sells $1.49M but loses $27.5K (−1.9% margin). 11 of 64 products lose money.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West sells like East but earns $62K less profit</a:t>
            </a:r>
            <a:endParaRPr lang="en-US" sz="2800" dirty="0"/>
          </a:p>
        </p:txBody>
      </p:sp>
      <p:graphicFrame>
        <p:nvGraphicFramePr>
          <p:cNvPr id="3" name="Region chart"/>
          <p:cNvGraphicFramePr/>
          <p:nvPr>
            <p:extLst>
              <p:ext uri="{D42A27DB-BD31-4B8C-83A1-F6EECF244321}">
                <p14:modId xmlns:p14="http://schemas.microsoft.com/office/powerpoint/2010/main" val="1538949049"/>
              </p:ext>
            </p:extLst>
          </p:nvPr>
        </p:nvGraphicFramePr>
        <p:xfrm>
          <a:off x="548640" y="1325880"/>
          <a:ext cx="676656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680960" y="1371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Profit margin by region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3829743"/>
              </p:ext>
            </p:extLst>
          </p:nvPr>
        </p:nvGraphicFramePr>
        <p:xfrm>
          <a:off x="7680960" y="1828800"/>
          <a:ext cx="3931920" cy="1389888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C24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680960" y="3520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Cities to review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7680960" y="3931920"/>
            <a:ext cx="3931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Denver: −$4,510 (−3.8%), the only loss city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Miami: 2.0% margin on $124K sales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Chicago: 3.0% margin on $142K sales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Best: Philadelphia, $41,947 at 20.5%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Margin halved in 2023 and sales fell 17% in 2025</a:t>
            </a:r>
            <a:endParaRPr lang="en-US" sz="2800" dirty="0"/>
          </a:p>
        </p:txBody>
      </p:sp>
      <p:graphicFrame>
        <p:nvGraphicFramePr>
          <p:cNvPr id="3" name="Year chart"/>
          <p:cNvGraphicFramePr/>
          <p:nvPr>
            <p:extLst>
              <p:ext uri="{D42A27DB-BD31-4B8C-83A1-F6EECF244321}">
                <p14:modId xmlns:p14="http://schemas.microsoft.com/office/powerpoint/2010/main" val="1479928483"/>
              </p:ext>
            </p:extLst>
          </p:nvPr>
        </p:nvGraphicFramePr>
        <p:xfrm>
          <a:off x="548640" y="1325880"/>
          <a:ext cx="676656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371600"/>
          <a:ext cx="3931920" cy="173736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YoY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C24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+9.4%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C24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−17.0%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7680960" y="338328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9 of 48 months were loss-making. The 2025 drop in sales needs a separate investigation by category and region.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Consumer drives half of sales at the lowest margin</a:t>
            </a:r>
            <a:endParaRPr lang="en-US" sz="2800" dirty="0"/>
          </a:p>
        </p:txBody>
      </p:sp>
      <p:graphicFrame>
        <p:nvGraphicFramePr>
          <p:cNvPr id="3" name="Segment chart"/>
          <p:cNvGraphicFramePr/>
          <p:nvPr>
            <p:extLst>
              <p:ext uri="{D42A27DB-BD31-4B8C-83A1-F6EECF244321}">
                <p14:modId xmlns:p14="http://schemas.microsoft.com/office/powerpoint/2010/main" val="4024326266"/>
              </p:ext>
            </p:extLst>
          </p:nvPr>
        </p:nvGraphicFramePr>
        <p:xfrm>
          <a:off x="548640" y="1325880"/>
          <a:ext cx="51206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5720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Consumer: 49.6% of sales ($2.22M). Home Office: 18.6% of sales but the best margin.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12648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Customers</a:t>
            </a:r>
            <a:endParaRPr lang="en-US" sz="1600" dirty="0"/>
          </a:p>
        </p:txBody>
      </p:sp>
      <p:sp>
        <p:nvSpPr>
          <p:cNvPr id="6" name="LossCust card"/>
          <p:cNvSpPr/>
          <p:nvPr/>
        </p:nvSpPr>
        <p:spPr>
          <a:xfrm>
            <a:off x="6126480" y="1828800"/>
            <a:ext cx="265176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LossCust value"/>
          <p:cNvSpPr txBox="1"/>
          <p:nvPr/>
        </p:nvSpPr>
        <p:spPr>
          <a:xfrm>
            <a:off x="6355080" y="1965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139</a:t>
            </a:r>
            <a:endParaRPr lang="en-US" sz="3600" dirty="0"/>
          </a:p>
        </p:txBody>
      </p:sp>
      <p:sp>
        <p:nvSpPr>
          <p:cNvPr id="8" name="LossCust label"/>
          <p:cNvSpPr txBox="1"/>
          <p:nvPr/>
        </p:nvSpPr>
        <p:spPr>
          <a:xfrm>
            <a:off x="6355080" y="2697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of 510 customers are net loss-making</a:t>
            </a:r>
            <a:endParaRPr lang="en-US" sz="1300" dirty="0"/>
          </a:p>
        </p:txBody>
      </p:sp>
      <p:sp>
        <p:nvSpPr>
          <p:cNvPr id="9" name="TopCust card"/>
          <p:cNvSpPr/>
          <p:nvPr/>
        </p:nvSpPr>
        <p:spPr>
          <a:xfrm>
            <a:off x="8961120" y="1828800"/>
            <a:ext cx="265176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opCust value"/>
          <p:cNvSpPr txBox="1"/>
          <p:nvPr/>
        </p:nvSpPr>
        <p:spPr>
          <a:xfrm>
            <a:off x="9189720" y="1965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$44.2K</a:t>
            </a:r>
            <a:endParaRPr lang="en-US" sz="3600" dirty="0"/>
          </a:p>
        </p:txBody>
      </p:sp>
      <p:sp>
        <p:nvSpPr>
          <p:cNvPr id="11" name="TopCust label"/>
          <p:cNvSpPr txBox="1"/>
          <p:nvPr/>
        </p:nvSpPr>
        <p:spPr>
          <a:xfrm>
            <a:off x="9189720" y="2697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Top customer sales (Michelle Clark, MC-10500)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126480" y="34290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Top 10 by profit is led by Andrew Thomas (AT-10162, $13,946) and Michelle Clark ($11,253). 100 customer names are shared, so all rankings use Customer ID.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Same Day shipping earns the weakest margin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949440" cy="22860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 mode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b="1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b="1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b="1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b="1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b="1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days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Class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1,235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58.8%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$273,482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 Class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20.9%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$89,808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Class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14.8%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$93,337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Day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$23,418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b="1" dirty="0">
                          <a:solidFill>
                            <a:srgbClr val="C24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Delivery card"/>
          <p:cNvSpPr/>
          <p:nvPr/>
        </p:nvSpPr>
        <p:spPr>
          <a:xfrm>
            <a:off x="7955280" y="1463040"/>
            <a:ext cx="365760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Delivery value"/>
          <p:cNvSpPr txBox="1"/>
          <p:nvPr/>
        </p:nvSpPr>
        <p:spPr>
          <a:xfrm>
            <a:off x="8183880" y="16002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4.40 to 4.49</a:t>
            </a:r>
            <a:endParaRPr lang="en-US" sz="3600" dirty="0"/>
          </a:p>
        </p:txBody>
      </p:sp>
      <p:sp>
        <p:nvSpPr>
          <p:cNvPr id="6" name="Delivery label"/>
          <p:cNvSpPr txBox="1"/>
          <p:nvPr/>
        </p:nvSpPr>
        <p:spPr>
          <a:xfrm>
            <a:off x="8183880" y="2331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Average delivery days in every region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310896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Fulfilment is consistent across regions, so it is not behind the West's weak margin. The lever here is pricing Same Day shipping, not speeding up delivery.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Five actions to rebuild margin</a:t>
            </a:r>
            <a:endParaRPr lang="en-US" sz="2800" dirty="0"/>
          </a:p>
        </p:txBody>
      </p:sp>
      <p:sp>
        <p:nvSpPr>
          <p:cNvPr id="3" name="Rec 1 badge"/>
          <p:cNvSpPr/>
          <p:nvPr/>
        </p:nvSpPr>
        <p:spPr>
          <a:xfrm>
            <a:off x="548640" y="1444752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3716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Cap line discounts at 20%; require approval above 30%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7830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$402.9K of losses sit on lines discounted above 30%</a:t>
            </a:r>
            <a:endParaRPr lang="en-US" sz="1400" dirty="0"/>
          </a:p>
        </p:txBody>
      </p:sp>
      <p:sp>
        <p:nvSpPr>
          <p:cNvPr id="7" name="Rec 2 badge"/>
          <p:cNvSpPr/>
          <p:nvPr/>
        </p:nvSpPr>
        <p:spPr>
          <a:xfrm>
            <a:off x="548640" y="2404872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 txBox="1"/>
          <p:nvPr/>
        </p:nvSpPr>
        <p:spPr>
          <a:xfrm>
            <a:off x="548640" y="24048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33172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Reprice or delist the 6 worst Table and Machine SKUs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743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Each loses $17K to $32K; together they lose $125.3K</a:t>
            </a:r>
            <a:endParaRPr lang="en-US" sz="1400" dirty="0"/>
          </a:p>
        </p:txBody>
      </p:sp>
      <p:sp>
        <p:nvSpPr>
          <p:cNvPr id="11" name="Rec 3 badge"/>
          <p:cNvSpPr/>
          <p:nvPr/>
        </p:nvSpPr>
        <p:spPr>
          <a:xfrm>
            <a:off x="548640" y="3364992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 txBox="1"/>
          <p:nvPr/>
        </p:nvSpPr>
        <p:spPr>
          <a:xfrm>
            <a:off x="548640" y="33649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2918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Protect Copiers pricing and bundle around it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7033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Earns $410.3K, 85% of profit, at 32% margin</a:t>
            </a:r>
            <a:endParaRPr lang="en-US" sz="1400" dirty="0"/>
          </a:p>
        </p:txBody>
      </p:sp>
      <p:sp>
        <p:nvSpPr>
          <p:cNvPr id="15" name="Rec 4 badge"/>
          <p:cNvSpPr/>
          <p:nvPr/>
        </p:nvSpPr>
        <p:spPr>
          <a:xfrm>
            <a:off x="548640" y="4325112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 txBox="1"/>
          <p:nvPr/>
        </p:nvSpPr>
        <p:spPr>
          <a:xfrm>
            <a:off x="548640" y="43251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25196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Pricing audit in West cities: Denver, Portland, Seattle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6634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West margin is 8.9% vs East's 13.8%</a:t>
            </a:r>
            <a:endParaRPr lang="en-US" sz="1400" dirty="0"/>
          </a:p>
        </p:txBody>
      </p:sp>
      <p:sp>
        <p:nvSpPr>
          <p:cNvPr id="19" name="Rec 5 badge"/>
          <p:cNvSpPr/>
          <p:nvPr/>
        </p:nvSpPr>
        <p:spPr>
          <a:xfrm>
            <a:off x="548640" y="5285232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 txBox="1"/>
          <p:nvPr/>
        </p:nvSpPr>
        <p:spPr>
          <a:xfrm>
            <a:off x="548640" y="52852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52120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Add a Same Day fee or minimum order value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56235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Same Day margin is 8.8%, the lowest of 4 modes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10312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Decision requested: approve the discount cap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365760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Next 30 days: discount approval rule live · SKU review for Tables and Machines · West city pricing audit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Track monthly in the Tableau dashboard: margin, discount above 30% share, and profit by sub-category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0" y="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Appendix A · Tableau dashboard, Overview page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7161C7-1CC8-7720-46C0-D98147CB8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573" y="699248"/>
            <a:ext cx="8741439" cy="574382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0" y="228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Appendix B · Tableau dashboard, Deep-Dive page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DE44A1-41F9-E939-EF08-6DE4D2670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6604" y="659573"/>
            <a:ext cx="7013913" cy="57412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eridian">
  <a:themeElements>
    <a:clrScheme name="Meridian">
      <a:dk1>
        <a:srgbClr val="1F2529"/>
      </a:dk1>
      <a:lt1>
        <a:srgbClr val="FFFFFF"/>
      </a:lt1>
      <a:dk2>
        <a:srgbClr val="2B2B2B"/>
      </a:dk2>
      <a:lt2>
        <a:srgbClr val="F2F4F5"/>
      </a:lt2>
      <a:accent1>
        <a:srgbClr val="0F6E7A"/>
      </a:accent1>
      <a:accent2>
        <a:srgbClr val="C2413A"/>
      </a:accent2>
      <a:accent3>
        <a:srgbClr val="8C9399"/>
      </a:accent3>
      <a:accent4>
        <a:srgbClr val="D9A441"/>
      </a:accent4>
      <a:accent5>
        <a:srgbClr val="5FA8B2"/>
      </a:accent5>
      <a:accent6>
        <a:srgbClr val="E8B4AF"/>
      </a:accent6>
      <a:hlink>
        <a:srgbClr val="0F6E7A"/>
      </a:hlink>
      <a:folHlink>
        <a:srgbClr val="5B6B75"/>
      </a:folHlink>
    </a:clrScheme>
    <a:fontScheme name="Meridia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1098</Words>
  <Application>Microsoft Office PowerPoint</Application>
  <PresentationFormat>Widescreen</PresentationFormat>
  <Paragraphs>171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Meridian</vt:lpstr>
      <vt:lpstr>Meridian Mart Sales Analysis: Discounting is eroding Meridian Mart's margin</vt:lpstr>
      <vt:lpstr>$4.47M in sales returned only 10.7% profit over four years</vt:lpstr>
      <vt:lpstr>Every discount above 30% loses money</vt:lpstr>
      <vt:lpstr>Copiers carry profit; Tables and Machines lose $125K</vt:lpstr>
      <vt:lpstr>West sells like East but earns $62K less profit</vt:lpstr>
      <vt:lpstr>Margin halved in 2023 and sales fell 17% in 2025</vt:lpstr>
      <vt:lpstr>Consumer drives half of sales at the lowest margin</vt:lpstr>
      <vt:lpstr>Same Day shipping earns the weakest margin</vt:lpstr>
      <vt:lpstr>Five actions to rebuild margin</vt:lpstr>
      <vt:lpstr>Decision requested: approve the discount cap</vt:lpstr>
      <vt:lpstr>Appendix A · Tableau dashboard, Overview page</vt:lpstr>
      <vt:lpstr>Appendix B · Tableau dashboard, Deep-Dive page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Meridian Mart Sales Performance Review</dc:title>
  <dc:subject>PptxGenJS Presentation</dc:subject>
  <dc:creator>Mo Yusuf</dc:creator>
  <cp:lastModifiedBy>Mo Yusuf</cp:lastModifiedBy>
  <cp:revision>2</cp:revision>
  <cp:lastPrinted>2026-10-12T20:38:53Z</cp:lastPrinted>
  <dcterms:created xsi:type="dcterms:W3CDTF">2026-10-12T19:40:52Z</dcterms:created>
  <dcterms:modified xsi:type="dcterms:W3CDTF">2026-10-12T20:40:34Z</dcterms:modified>
</cp:coreProperties>
</file>